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Orador: Vicente Muñoz (0:30 min)</a:t>
            </a:r>
          </a:p>
          <a:p>
            <a:r>
              <a:t>Presentarse y anunciar el recorrido: 'Primero les contamos qué descubrimos, después les mostramos la herramienta que construimos.'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Orador: Vicente Muñoz (0:50 min)</a:t>
            </a:r>
          </a:p>
          <a:p>
            <a:r>
              <a:t>'Hoy muchas decisiones se toman por intuición. Nosotros usamos datos para responder tres preguntas.'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Orador: Juan Ortiz (0:50 min)</a:t>
            </a:r>
          </a:p>
          <a:p>
            <a:r>
              <a:t>Explicar la fuerte asimetría; por eso se eligió el percentil 75 como umbral para definir el éxito.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Orador: Juan Ortiz (0:40 min)</a:t>
            </a:r>
          </a:p>
          <a:p>
            <a:r>
              <a:t>Detalles técnicos hablados: IQR y límites 1,5 × IQR, winsorización en 1%/99% para ritmo, estandarización (media 0, varianza 1) y split estratificado con semilla 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Orador: Jordan Murillo (1:00 min)</a:t>
            </a:r>
          </a:p>
          <a:p>
            <a:r>
              <a:t>Soporte 1,21% (≈1.020 canciones), Confianza 61,33%, Lift 3,40; R&amp;B: 60,03% y Lift 3,33. Decir que es asociación, no causalidad.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Orador: Jorge Moncada (1:00 min)</a:t>
            </a:r>
          </a:p>
          <a:p>
            <a:r>
              <a:t>K-Means con K = 4 sobre 6 atributos; el codo y la silueta (≈ 0,38) justifican K = 4 (están en el anexo A2).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Orador: Jose Mendez (1:00 min)</a:t>
            </a:r>
          </a:p>
          <a:p>
            <a:r>
              <a:t>max_depth = 3, criterio Gini; con ≥ 8 niveles el entrenamiento llegaba a 84% pero en validación caía bajo 52% (sobreajuste).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Orador: Jose Mendez (1:00 min)</a:t>
            </a:r>
          </a:p>
          <a:p>
            <a:r>
              <a:t>Preparar la pregunta previsible: si dijera siempre 'no éxito' acertaría 74% pero no encontraría ningún hit. El árbol rescata el 36% de los éxitos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Orador: Vicente Muñoz (0:50 min)</a:t>
            </a:r>
          </a:p>
          <a:p>
            <a:r>
              <a:t>Cerrar la parte 1 y pasar la palabra a la parte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oculta reservada para responder preguntas técnicas del jurado.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oculta reservada para responder preguntas técnicas del jurado.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oculta reservada para responder preguntas técnicas del jurado.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oculta reservada para responder preguntas técnicas del jurado.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PARTE 1 · EL ANÁLISIS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Segoe UI"/>
              </a:rPr>
              <a:t>De los datos al éxito musical</a:t>
            </a:r>
          </a:p>
          <a:p>
            <a:pPr>
              <a:spcBef>
                <a:spcPts val="800"/>
              </a:spcBef>
            </a:pPr>
            <a:r>
              <a:rPr sz="2000" i="1">
                <a:solidFill>
                  <a:srgbClr val="B3B3B3"/>
                </a:solidFill>
                <a:latin typeface="Segoe UI"/>
              </a:rPr>
              <a:t>¿Podemos saber, antes de lanzar una canción, a quién le va a gustar y si tiene opciones de ser un éxito?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93192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DB954"/>
                </a:solidFill>
                <a:latin typeface="Segoe UI"/>
              </a:rPr>
              <a:t>SoundData Analytics · 85.000 canciones de Spotify (2015–2025)
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  <a:latin typeface="Segoe UI"/>
              </a:rPr>
              <a:t>Equipo: Vicente Muñoz · Juan Ortiz · Jordan Murillo · Jorge Moncada · Jose Mendez · Bastian Parraguez
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B3B3B3"/>
                </a:solidFill>
                <a:latin typeface="Segoe UI"/>
              </a:rPr>
              <a:t>Docentes: Florentino Vargas y Rosa Rao · Universidad Santo Tomás · Minería de Datos (IEI-067)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Las discográficas invierten millones sin saber qué funcionará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37373"/>
                </a:solidFill>
                <a:latin typeface="Segoe UI"/>
              </a:rPr>
              <a:t>SoundData Analytics · Grupo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37373"/>
                </a:solidFill>
                <a:latin typeface="Segoe UI"/>
              </a:rPr>
              <a:t>02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420624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400" b="1">
                <a:solidFill>
                  <a:srgbClr val="1DB954"/>
                </a:solidFill>
                <a:latin typeface="Segoe UI"/>
              </a:rPr>
              <a:t>+100.000
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FFFFFF"/>
                </a:solidFill>
                <a:latin typeface="Segoe UI"/>
              </a:rPr>
              <a:t>lanzamientos nuevos cada día en el mundo musical.</a:t>
            </a:r>
          </a:p>
          <a:p>
            <a:pPr>
              <a:spcBef>
                <a:spcPts val="1600"/>
              </a:spcBef>
            </a:pPr>
            <a:r>
              <a:rPr sz="1500">
                <a:solidFill>
                  <a:srgbClr val="B3B3B3"/>
                </a:solidFill>
                <a:latin typeface="Segoe UI"/>
              </a:rPr>
              <a:t>La intuición ya no basta para asignar presupuestos.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554480"/>
            <a:ext cx="6217920" cy="1325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0" y="1828800"/>
            <a:ext cx="777240" cy="77724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874520"/>
            <a:ext cx="777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DB954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"/>
              </a:rPr>
              <a:t>¿Esta canción puede ser un éxito comercial?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3063239"/>
            <a:ext cx="6217920" cy="1325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0" y="3337559"/>
            <a:ext cx="777240" cy="77724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3383279"/>
            <a:ext cx="777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DB954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79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"/>
              </a:rPr>
              <a:t>¿Qué tipo de oyente la va a escuchar?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4572000"/>
            <a:ext cx="6217920" cy="1325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0" y="4846320"/>
            <a:ext cx="777240" cy="77724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4892040"/>
            <a:ext cx="777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DB954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92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"/>
              </a:rPr>
              <a:t>¿Qué combinaciones de sonido suelen funcionar?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Pocas canciones se llevan casi todo el público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37373"/>
                </a:solidFill>
                <a:latin typeface="Segoe UI"/>
              </a:rPr>
              <a:t>SoundData Analytics · Grupo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37373"/>
                </a:solidFill>
                <a:latin typeface="Segoe UI"/>
              </a:rPr>
              <a:t>03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475488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206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1">
                <a:solidFill>
                  <a:srgbClr val="1DB954"/>
                </a:solidFill>
                <a:latin typeface="Segoe UI"/>
              </a:rPr>
              <a:t>25 % → 68 %
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  <a:latin typeface="Segoe UI"/>
              </a:rPr>
              <a:t>El 25 % de las canciones concentra el 68 % de todas las reproducciones.
</a:t>
            </a:r>
          </a:p>
          <a:p>
            <a:r>
              <a:rPr sz="1400">
                <a:solidFill>
                  <a:srgbClr val="B3B3B3"/>
                </a:solidFill>
                <a:latin typeface="Segoe UI"/>
              </a:rPr>
              <a:t>• Catálogo: 85.000 canciones (2015–2025)
• 17 atributos: ritmo, energía, país, género...
</a:t>
            </a:r>
          </a:p>
          <a:p>
            <a:r>
              <a:rPr sz="1400" b="1">
                <a:solidFill>
                  <a:srgbClr val="1DB954"/>
                </a:solidFill>
                <a:latin typeface="Segoe UI"/>
              </a:rPr>
              <a:t>Definición de éxito: superar el 25 % más escuchado (≥ 85,2 M de reproducciones).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554480"/>
            <a:ext cx="566928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stribucion_streams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91640"/>
            <a:ext cx="5303520" cy="37253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PREPARACIÓN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Cuidamos los datos antes de analizarlos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37373"/>
                </a:solidFill>
                <a:latin typeface="Segoe UI"/>
              </a:rPr>
              <a:t>SoundData Analytics · Grupo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37373"/>
                </a:solidFill>
                <a:latin typeface="Segoe UI"/>
              </a:rPr>
              <a:t>04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8328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1920240"/>
            <a:ext cx="640080" cy="109728"/>
          </a:xfrm>
          <a:prstGeom prst="roundRect">
            <a:avLst/>
          </a:prstGeom>
          <a:solidFill>
            <a:srgbClr val="1DB954"/>
          </a:solidFill>
          <a:ln w="1270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Limpiamos
</a:t>
            </a:r>
          </a:p>
          <a:p>
            <a:r>
              <a:rPr sz="1600">
                <a:solidFill>
                  <a:srgbClr val="B3B3B3"/>
                </a:solidFill>
                <a:latin typeface="Segoe UI"/>
              </a:rPr>
              <a:t>Descartamos solo 180 canciones con datos incompletos (0,2 %). El 99,8 % se conservó íntegro.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1920240"/>
            <a:ext cx="640080" cy="109728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Protegimos los Éxitos
</a:t>
            </a:r>
          </a:p>
          <a:p>
            <a:r>
              <a:rPr sz="1600">
                <a:solidFill>
                  <a:srgbClr val="B3B3B3"/>
                </a:solidFill>
                <a:latin typeface="Segoe UI"/>
              </a:rPr>
              <a:t>Los valores extremos no se eliminan: los Mega-Hits son justo lo que buscamos predecir.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0" y="1920240"/>
            <a:ext cx="640080" cy="10972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28600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Probamos sin Trampas
</a:t>
            </a:r>
          </a:p>
          <a:p>
            <a:r>
              <a:rPr sz="1600">
                <a:solidFill>
                  <a:srgbClr val="B3B3B3"/>
                </a:solidFill>
                <a:latin typeface="Segoe UI"/>
              </a:rPr>
              <a:t>80 % para aprender y 20 % para comprobar con canciones que el modelo nunca vio.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HALLAZGO 1 · ASOCIACIÓN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Pop y R&amp;B con buen arranque se vuelven populares más fácil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37373"/>
                </a:solidFill>
                <a:latin typeface="Segoe UI"/>
              </a:rPr>
              <a:t>SoundData Analytics · Grupo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37373"/>
                </a:solidFill>
                <a:latin typeface="Segoe UI"/>
              </a:rPr>
              <a:t>05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457200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023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1DB954"/>
                </a:solidFill>
                <a:latin typeface="Segoe UI"/>
              </a:rPr>
              <a:t>6 de cada 10
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FFFFFF"/>
                </a:solidFill>
                <a:latin typeface="Segoe UI"/>
              </a:rPr>
              <a:t>canciones Pop con muchas reproducciones alcanzan alta popularidad.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554480"/>
            <a:ext cx="5852160" cy="146304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7373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Género Pop: 61 %  </a:t>
            </a:r>
            <a:r>
              <a:rPr sz="1500">
                <a:solidFill>
                  <a:srgbClr val="B3B3B3"/>
                </a:solidFill>
                <a:latin typeface="Segoe UI"/>
              </a:rPr>
              <a:t>
Más de 3 veces más probable que al azar (Lift: 3,40).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3200400"/>
            <a:ext cx="5852160" cy="146304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33832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Género R&amp;B: 60 %  </a:t>
            </a:r>
            <a:r>
              <a:rPr sz="1500">
                <a:solidFill>
                  <a:srgbClr val="B3B3B3"/>
                </a:solidFill>
                <a:latin typeface="Segoe UI"/>
              </a:rPr>
              <a:t>
Más de 3 veces más probable que al azar (Lift: 3,33).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4937760"/>
            <a:ext cx="5852160" cy="10972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512064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B954"/>
                </a:solidFill>
                <a:latin typeface="Segoe UI"/>
              </a:rPr>
              <a:t>💡 Conclusión: Impulsar el arranque de una canción Pop o R&amp;B vale la pena.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HALLAZGO 2 ·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Las canciones se agrupan en 4 perfiles de escucha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37373"/>
                </a:solidFill>
                <a:latin typeface="Segoe UI"/>
              </a:rPr>
              <a:t>SoundData Analytics · Grupo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37373"/>
                </a:solidFill>
                <a:latin typeface="Segoe UI"/>
              </a:rPr>
              <a:t>06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56032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822960" cy="109728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B8A6"/>
                </a:solidFill>
                <a:latin typeface="Segoe UI"/>
              </a:rPr>
              <a:t>Chill / Instrumental
</a:t>
            </a:r>
          </a:p>
          <a:p>
            <a:r>
              <a:rPr sz="1500">
                <a:solidFill>
                  <a:srgbClr val="B3B3B3"/>
                </a:solidFill>
                <a:latin typeface="Segoe UI"/>
              </a:rPr>
              <a:t>Baja energía y acústico.
Ideal para listas de estudio, lectura y sueño.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554480"/>
            <a:ext cx="256032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39312" y="1828800"/>
            <a:ext cx="822960" cy="109728"/>
          </a:xfrm>
          <a:prstGeom prst="roundRect">
            <a:avLst/>
          </a:prstGeom>
          <a:solidFill>
            <a:srgbClr val="EC4899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10312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C4899"/>
                </a:solidFill>
                <a:latin typeface="Segoe UI"/>
              </a:rPr>
              <a:t>Pop Comercial
</a:t>
            </a:r>
          </a:p>
          <a:p>
            <a:r>
              <a:rPr sz="1500">
                <a:solidFill>
                  <a:srgbClr val="B3B3B3"/>
                </a:solidFill>
                <a:latin typeface="Segoe UI"/>
              </a:rPr>
              <a:t>Bailabilidad y energía equilibradas.
Alta rotación radial y listas masivas.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54480"/>
            <a:ext cx="256032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64224" y="1828800"/>
            <a:ext cx="822960" cy="109728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210312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97316"/>
                </a:solidFill>
                <a:latin typeface="Segoe UI"/>
              </a:rPr>
              <a:t>Rock y Fiesta
</a:t>
            </a:r>
          </a:p>
          <a:p>
            <a:r>
              <a:rPr sz="1500">
                <a:solidFill>
                  <a:srgbClr val="B3B3B3"/>
                </a:solidFill>
                <a:latin typeface="Segoe UI"/>
              </a:rPr>
              <a:t>Potencia acústica y tempo alto.
Para entrenamientos y festivales en vivo.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554480"/>
            <a:ext cx="256032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89136" y="1828800"/>
            <a:ext cx="822960" cy="109728"/>
          </a:xfrm>
          <a:prstGeom prst="roundRect">
            <a:avLst/>
          </a:prstGeom>
          <a:solidFill>
            <a:srgbClr val="A855F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210312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A855F7"/>
                </a:solidFill>
                <a:latin typeface="Segoe UI"/>
              </a:rPr>
              <a:t>Urbano
</a:t>
            </a:r>
          </a:p>
          <a:p>
            <a:r>
              <a:rPr sz="1500">
                <a:solidFill>
                  <a:srgbClr val="B3B3B3"/>
                </a:solidFill>
                <a:latin typeface="Segoe UI"/>
              </a:rPr>
              <a:t>Ritmo sincopado y letras explícitas.
Fuerte conexión con el público joven (Gen Z).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HALLAZGO 3 · CLASIFICACIÓN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Un árbol de preguntas sencillas estima si tiene potencial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37373"/>
                </a:solidFill>
                <a:latin typeface="Segoe UI"/>
              </a:rPr>
              <a:t>SoundData Analytics · Grupo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37373"/>
                </a:solidFill>
                <a:latin typeface="Segoe UI"/>
              </a:rPr>
              <a:t>07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685800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bol_decision_grafic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37360"/>
            <a:ext cx="6583680" cy="30352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0" y="1554480"/>
            <a:ext cx="356616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  <a:latin typeface="Segoe UI"/>
              </a:rPr>
              <a:t>• Solo 3 niveles de preguntas → 8 caminos posibles.</a:t>
            </a:r>
          </a:p>
          <a:p>
            <a:pPr>
              <a:spcBef>
                <a:spcPts val="1800"/>
              </a:spcBef>
            </a:pPr>
            <a:r>
              <a:rPr sz="1700">
                <a:solidFill>
                  <a:srgbClr val="FFFFFF"/>
                </a:solidFill>
                <a:latin typeface="Segoe UI"/>
              </a:rPr>
              <a:t>• Lo mantuvimos simple a propósito: con más niveles memorizaba y fallaba.</a:t>
            </a:r>
          </a:p>
          <a:p>
            <a:pPr>
              <a:spcBef>
                <a:spcPts val="1800"/>
              </a:spcBef>
            </a:pPr>
            <a:r>
              <a:rPr sz="1700">
                <a:solidFill>
                  <a:srgbClr val="FFFFFF"/>
                </a:solidFill>
                <a:latin typeface="Segoe UI"/>
              </a:rPr>
              <a:t>• Cualquier productor o analista puede leerlo y entenderlo.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Muy bueno descartando; una orientación para elegir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37373"/>
                </a:solidFill>
                <a:latin typeface="Segoe UI"/>
              </a:rPr>
              <a:t>SoundData Analytics · Grupo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37373"/>
                </a:solidFill>
                <a:latin typeface="Segoe UI"/>
              </a:rPr>
              <a:t>08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2468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DB954"/>
                </a:solidFill>
                <a:latin typeface="Segoe UI"/>
              </a:rPr>
              <a:t>3 de cada 4
</a:t>
            </a:r>
          </a:p>
          <a:p>
            <a:r>
              <a:rPr sz="1700">
                <a:solidFill>
                  <a:srgbClr val="FFFFFF"/>
                </a:solidFill>
                <a:latin typeface="Segoe UI"/>
              </a:rPr>
              <a:t>veces acierta cuando dice 'no tiene potencial' (74 % de precisión).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2468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3B82F6"/>
                </a:solidFill>
                <a:latin typeface="Segoe UI"/>
              </a:rPr>
              <a:t>58 %
</a:t>
            </a:r>
          </a:p>
          <a:p>
            <a:r>
              <a:rPr sz="1700">
                <a:solidFill>
                  <a:srgbClr val="FFFFFF"/>
                </a:solidFill>
                <a:latin typeface="Segoe UI"/>
              </a:rPr>
              <a:t>de exactitud general evaluada sobre 17.000 canciones nuevas.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698480" cy="17373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59E0B"/>
                </a:solidFill>
                <a:latin typeface="Segoe UI"/>
              </a:rPr>
              <a:t>⚠️ Realidad de la industria musical:
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Segoe UI"/>
              </a:rPr>
              <a:t>El éxito comercial no depende solo del audio: intervienen marketing, redes sociales y base de fans. Nuestro modelo es un filtro de preselección, no una bola de cristal.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QUÉ HACER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Tres decisiones que los datos respaldan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37373"/>
                </a:solidFill>
                <a:latin typeface="Segoe UI"/>
              </a:rPr>
              <a:t>SoundData Analytics · Grupo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37373"/>
                </a:solidFill>
                <a:latin typeface="Segoe UI"/>
              </a:rPr>
              <a:t>09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83280" cy="34747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1828800"/>
            <a:ext cx="640080" cy="109728"/>
          </a:xfrm>
          <a:prstGeom prst="roundRect">
            <a:avLst/>
          </a:prstGeom>
          <a:solidFill>
            <a:srgbClr val="EC4899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"/>
              </a:rPr>
              <a:t>Pop y Urbano
</a:t>
            </a:r>
          </a:p>
          <a:p>
            <a:r>
              <a:rPr sz="1500">
                <a:solidFill>
                  <a:srgbClr val="B3B3B3"/>
                </a:solidFill>
                <a:latin typeface="Segoe UI"/>
              </a:rPr>
              <a:t>Concentrar inversión en canciones muy bailables (&gt; 0,65) y videos verticales en TikTok/Reels.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34747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1828800"/>
            <a:ext cx="640080" cy="109728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"/>
              </a:rPr>
              <a:t>Chill / Acústico
</a:t>
            </a:r>
          </a:p>
          <a:p>
            <a:r>
              <a:rPr sz="1500">
                <a:solidFill>
                  <a:srgbClr val="B3B3B3"/>
                </a:solidFill>
                <a:latin typeface="Segoe UI"/>
              </a:rPr>
              <a:t>Evitar gasto en radio comercial. Apuntar a playlists de estudio y sueño con mayor retención.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34747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640080" cy="109728"/>
          </a:xfrm>
          <a:prstGeom prst="roundRect">
            <a:avLst/>
          </a:prstGeom>
          <a:solidFill>
            <a:srgbClr val="1DB954"/>
          </a:solidFill>
          <a:ln w="1270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"/>
              </a:rPr>
              <a:t>Usar la Herramienta
</a:t>
            </a:r>
          </a:p>
          <a:p>
            <a:r>
              <a:rPr sz="1500">
                <a:solidFill>
                  <a:srgbClr val="B3B3B3"/>
                </a:solidFill>
                <a:latin typeface="Segoe UI"/>
              </a:rPr>
              <a:t>Simular los parámetros acústicos antes de invertir capital en producción y máster.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698480" cy="7315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DB954"/>
                </a:solidFill>
                <a:latin typeface="Segoe UI"/>
              </a:rPr>
              <a:t>➔  A continuación: la herramienta interactiva que construimos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ANEXO TÉCNICO (SOLO PREGUNTAS)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ANEXO A1: PREPARACIÓN DE DATOS EN DETALLE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  <a:latin typeface="Segoe UI"/>
              </a:rPr>
              <a:t>Detalle de IQR, winsorización 1%/99% y StandardScaler (Z-Score).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ANEXO TÉCNICO (SOLO PREGUNTAS)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ANEXO A2: MÉTODO DEL CODO Y COEFICIENTE DE SILUETA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todo_codo_silueta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737360"/>
            <a:ext cx="8869680" cy="38671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ANEXO TÉCNICO (SOLO PREGUNTAS)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ANEXO A3: MATRIZ DE CONFUSIÓN Y MÉTRICAS COMPLETAS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triz_confusi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737360"/>
            <a:ext cx="5486400" cy="40603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ANEXO TÉCNICO (SOLO PREGUNTAS)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ANEXO A4: REGLAS DE ASOCIACIÓN APRIORI (TABLA COMPLETA)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  <a:latin typeface="Segoe UI"/>
              </a:rPr>
              <a:t>Soporte, Confianza y Lift para las reglas minadas con mlxtend.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