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Orador: Vicente Muñoz (0:30 min)</a:t>
            </a:r>
          </a:p>
          <a:p>
            <a:r>
              <a:t>Para quién es: directores de A&amp;R, productores y analistas de sellos discográficos.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Orador: Vicente Muñoz (0:50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Orador: Vicente Muñoz (0:40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Orador: Vicente Muñoz (1:10 min con Demo en Vivo)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Orador: Bastian Parraguez (0:40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Orador: Bastian Parraguez (0:50 min)</a:t>
            </a:r>
          </a:p>
          <a:p>
            <a:r>
              <a:t>Detalle técnico: pruebas de endpoints, ciclo completo de base de datos, carga e inferencia de modelos; validación con Pydantic; despliegue contenerizable.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Orador: Todos (0:30 min)</a:t>
            </a:r>
          </a:p>
          <a:p>
            <a:r>
              <a:t>Agradecimiento y ronda de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oculta para preguntas sobre FastAPI, SQLite y Pytest.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18872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DB954"/>
                </a:solidFill>
                <a:latin typeface="Segoe UI"/>
              </a:rPr>
              <a:t>PARTE 2 · LA APLICACIÓN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Segoe UI"/>
              </a:rPr>
              <a:t>SoundData: la herramienta para decidir con datos</a:t>
            </a:r>
          </a:p>
          <a:p>
            <a:pPr>
              <a:spcBef>
                <a:spcPts val="800"/>
              </a:spcBef>
            </a:pPr>
            <a:r>
              <a:rPr sz="2200" i="1">
                <a:solidFill>
                  <a:srgbClr val="B3B3B3"/>
                </a:solidFill>
                <a:latin typeface="Segoe UI"/>
              </a:rPr>
              <a:t>Prueba una canción antes de invertir en producirla.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4747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DB954"/>
                </a:solidFill>
                <a:latin typeface="Segoe UI"/>
              </a:rPr>
              <a:t>Ajustas la canción  </a:t>
            </a:r>
            <a:r>
              <a:rPr sz="1900" b="0">
                <a:solidFill>
                  <a:srgbClr val="B3B3B3"/>
                </a:solidFill>
                <a:latin typeface="Segoe UI"/>
              </a:rPr>
              <a:t>➔  </a:t>
            </a:r>
            <a:r>
              <a:rPr sz="1900" b="1">
                <a:solidFill>
                  <a:srgbClr val="1DB954"/>
                </a:solidFill>
                <a:latin typeface="Segoe UI"/>
              </a:rPr>
              <a:t>La herramienta analiza  </a:t>
            </a:r>
            <a:r>
              <a:rPr sz="1900" b="0">
                <a:solidFill>
                  <a:srgbClr val="B3B3B3"/>
                </a:solidFill>
                <a:latin typeface="Segoe UI"/>
              </a:rPr>
              <a:t>➔  </a:t>
            </a:r>
            <a:r>
              <a:rPr sz="1900" b="1">
                <a:solidFill>
                  <a:srgbClr val="1DB954"/>
                </a:solidFill>
                <a:latin typeface="Segoe UI"/>
              </a:rPr>
              <a:t>Probabilidad y perfil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4805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Segoe UI"/>
              </a:rPr>
              <a:t>✔ Respuesta en &lt; 0,25 s     </a:t>
            </a:r>
            <a:r>
              <a:rPr sz="1600">
                <a:solidFill>
                  <a:srgbClr val="FFFFFF"/>
                </a:solidFill>
                <a:latin typeface="Segoe UI"/>
              </a:rPr>
              <a:t>✔ Guarda tus canciones (SQLite)     </a:t>
            </a:r>
            <a:r>
              <a:rPr sz="1600">
                <a:solidFill>
                  <a:srgbClr val="FFFFFF"/>
                </a:solidFill>
                <a:latin typeface="Segoe UI"/>
              </a:rPr>
              <a:t>✔ 100 % en español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B954"/>
                </a:solidFill>
                <a:latin typeface="Segoe UI"/>
              </a:rPr>
              <a:t>VISTA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¿Quién escucha qué y desde dónde?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37373"/>
                </a:solidFill>
                <a:latin typeface="Segoe UI"/>
              </a:rPr>
              <a:t>SoundData Analytics · Grupo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37373"/>
                </a:solidFill>
                <a:latin typeface="Segoe UI"/>
              </a:rPr>
              <a:t>02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7132320" cy="44805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pp_vista_1_analisis_oy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664208"/>
            <a:ext cx="6903720" cy="388334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46720" y="1554480"/>
            <a:ext cx="3383280" cy="132588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19072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DB954"/>
                </a:solidFill>
                <a:latin typeface="Segoe UI"/>
              </a:rPr>
              <a:t>841 M de Oyentes
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B3B3B3"/>
                </a:solidFill>
                <a:latin typeface="Segoe UI"/>
              </a:rPr>
              <a:t>Métricas acumuladas del catálogo.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063239"/>
            <a:ext cx="3383280" cy="132588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227831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DB954"/>
                </a:solidFill>
                <a:latin typeface="Segoe UI"/>
              </a:rPr>
              <a:t>12 Géneros
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B3B3B3"/>
                </a:solidFill>
                <a:latin typeface="Segoe UI"/>
              </a:rPr>
              <a:t>Comparativa dinámica en barras.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572000"/>
            <a:ext cx="3383280" cy="132588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736592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DB954"/>
                </a:solidFill>
                <a:latin typeface="Segoe UI"/>
              </a:rPr>
              <a:t>Países
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B3B3B3"/>
                </a:solidFill>
                <a:latin typeface="Segoe UI"/>
              </a:rPr>
              <a:t>Reparto porcentual de mercado.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B954"/>
                </a:solidFill>
                <a:latin typeface="Segoe UI"/>
              </a:rPr>
              <a:t>VISTA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Explora por género, país, año o sonido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37373"/>
                </a:solidFill>
                <a:latin typeface="Segoe UI"/>
              </a:rPr>
              <a:t>SoundData Analytics · Grupo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37373"/>
                </a:solidFill>
                <a:latin typeface="Segoe UI"/>
              </a:rPr>
              <a:t>03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7132320" cy="44805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pp_vista_2_segmentacion_atribu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664208"/>
            <a:ext cx="6903720" cy="388334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46720" y="1554480"/>
            <a:ext cx="3383280" cy="132588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19072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DB954"/>
                </a:solidFill>
                <a:latin typeface="Segoe UI"/>
              </a:rPr>
              <a:t>Filtros Instantáneos
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B3B3B3"/>
                </a:solidFill>
                <a:latin typeface="Segoe UI"/>
              </a:rPr>
              <a:t>Cambia el atributo y todo se actualiza.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063239"/>
            <a:ext cx="3383280" cy="132588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227831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DB954"/>
                </a:solidFill>
                <a:latin typeface="Segoe UI"/>
              </a:rPr>
              <a:t>Tabla de Peso
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B3B3B3"/>
                </a:solidFill>
                <a:latin typeface="Segoe UI"/>
              </a:rPr>
              <a:t>Qué parte del total representa cada grupo.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572000"/>
            <a:ext cx="3383280" cy="132588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736592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DB954"/>
                </a:solidFill>
                <a:latin typeface="Segoe UI"/>
              </a:rPr>
              <a:t>Exportar JSON
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B3B3B3"/>
                </a:solidFill>
                <a:latin typeface="Segoe UI"/>
              </a:rPr>
              <a:t>Descarga el resumen en un clic.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B954"/>
                </a:solidFill>
                <a:latin typeface="Segoe UI"/>
              </a:rPr>
              <a:t>VISTA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Ajusta una canción y mira su potencial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37373"/>
                </a:solidFill>
                <a:latin typeface="Segoe UI"/>
              </a:rPr>
              <a:t>SoundData Analytics · Grupo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37373"/>
                </a:solidFill>
                <a:latin typeface="Segoe UI"/>
              </a:rPr>
              <a:t>04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7132320" cy="44805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pp_vista_3_simulador_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664208"/>
            <a:ext cx="6903720" cy="388334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46720" y="1554480"/>
            <a:ext cx="3383280" cy="132588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19072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DB954"/>
                </a:solidFill>
                <a:latin typeface="Segoe UI"/>
              </a:rPr>
              <a:t>Mueve los Controles
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B3B3B3"/>
                </a:solidFill>
                <a:latin typeface="Segoe UI"/>
              </a:rPr>
              <a:t>Ritmo (BPM), energía, bailabilidad y volumen.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063239"/>
            <a:ext cx="3383280" cy="132588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227831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DB954"/>
                </a:solidFill>
                <a:latin typeface="Segoe UI"/>
              </a:rPr>
              <a:t>Probabilidad de Éxito
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B3B3B3"/>
                </a:solidFill>
                <a:latin typeface="Segoe UI"/>
              </a:rPr>
              <a:t>Diagnóstico del árbol y clúster K-Means.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572000"/>
            <a:ext cx="3383280" cy="132588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736592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DB954"/>
                </a:solidFill>
                <a:latin typeface="Segoe UI"/>
              </a:rPr>
              <a:t>Consejo Accionable
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B3B3B3"/>
                </a:solidFill>
                <a:latin typeface="Segoe UI"/>
              </a:rPr>
              <a:t>Recomendación estratégica de mercado.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B954"/>
                </a:solidFill>
                <a:latin typeface="Segoe UI"/>
              </a:rPr>
              <a:t>VISTA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Guarda y organiza las canciones evaluadas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37373"/>
                </a:solidFill>
                <a:latin typeface="Segoe UI"/>
              </a:rPr>
              <a:t>SoundData Analytics · Grupo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37373"/>
                </a:solidFill>
                <a:latin typeface="Segoe UI"/>
              </a:rPr>
              <a:t>05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7132320" cy="44805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pp_vista_4_portafolio_cr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664208"/>
            <a:ext cx="6903720" cy="388334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46720" y="1554480"/>
            <a:ext cx="3383280" cy="132588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19072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DB954"/>
                </a:solidFill>
                <a:latin typeface="Segoe UI"/>
              </a:rPr>
              <a:t>Base de Datos SQLite
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B3B3B3"/>
                </a:solidFill>
                <a:latin typeface="Segoe UI"/>
              </a:rPr>
              <a:t>Persistencia permanente de tus maquetas.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063239"/>
            <a:ext cx="3383280" cy="132588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227831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DB954"/>
                </a:solidFill>
                <a:latin typeface="Segoe UI"/>
              </a:rPr>
              <a:t>Sin Recargar
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B3B3B3"/>
                </a:solidFill>
                <a:latin typeface="Segoe UI"/>
              </a:rPr>
              <a:t>Crear, editar y eliminar en tiempo real.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572000"/>
            <a:ext cx="3383280" cy="132588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736592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DB954"/>
                </a:solidFill>
                <a:latin typeface="Segoe UI"/>
              </a:rPr>
              <a:t>Búsqueda Rápida
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B3B3B3"/>
                </a:solidFill>
                <a:latin typeface="Segoe UI"/>
              </a:rPr>
              <a:t>Filtra por título, género o diagnóstico.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B954"/>
                </a:solidFill>
                <a:latin typeface="Segoe UI"/>
              </a:rPr>
              <a:t>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La herramienta fue probada y es segura de usar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37373"/>
                </a:solidFill>
                <a:latin typeface="Segoe UI"/>
              </a:rPr>
              <a:t>SoundData Analytics · Grupo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37373"/>
                </a:solidFill>
                <a:latin typeface="Segoe UI"/>
              </a:rPr>
              <a:t>06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4389120" cy="44805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3840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400" b="1">
                <a:solidFill>
                  <a:srgbClr val="1DB954"/>
                </a:solidFill>
                <a:latin typeface="Segoe UI"/>
              </a:rPr>
              <a:t>17 / 17
</a:t>
            </a:r>
          </a:p>
          <a:p>
            <a:r>
              <a:rPr sz="2000">
                <a:solidFill>
                  <a:srgbClr val="FFFFFF"/>
                </a:solidFill>
                <a:latin typeface="Segoe UI"/>
              </a:rPr>
              <a:t>pruebas automáticas aprobadas en menos de 3 segundos.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554480"/>
            <a:ext cx="6035040" cy="132588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173736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Segoe UI"/>
              </a:rPr>
              <a:t>Errores Claros: </a:t>
            </a:r>
            <a:r>
              <a:rPr sz="1400">
                <a:solidFill>
                  <a:srgbClr val="B3B3B3"/>
                </a:solidFill>
                <a:latin typeface="Segoe UI"/>
              </a:rPr>
              <a:t>Si ingresas un dato inválido, ves un mensaje amigable en español. Cero pantallas de código técnico.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3063239"/>
            <a:ext cx="6035040" cy="132588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3246119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Segoe UI"/>
              </a:rPr>
              <a:t>Disponible en Línea: </a:t>
            </a:r>
            <a:r>
              <a:rPr sz="1400">
                <a:solidFill>
                  <a:srgbClr val="B3B3B3"/>
                </a:solidFill>
                <a:latin typeface="Segoe UI"/>
              </a:rPr>
              <a:t>Desplegada en Render y sincronizada con GitHub. Acceso directo desde cualquier navegador.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4572000"/>
            <a:ext cx="6035040" cy="132588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475488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Segoe UI"/>
              </a:rPr>
              <a:t>Video de Respaldo: </a:t>
            </a:r>
            <a:r>
              <a:rPr sz="1400">
                <a:solidFill>
                  <a:srgbClr val="B3B3B3"/>
                </a:solidFill>
                <a:latin typeface="Segoe UI"/>
              </a:rPr>
              <a:t>Video de 2 minutos grabado para respaldar la presentación ante cortes de 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66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Los datos no reemplazan al oído, pero ayudan a invertir mejor.
</a:t>
            </a:r>
          </a:p>
          <a:p>
            <a:r>
              <a:rPr sz="2000">
                <a:solidFill>
                  <a:srgbClr val="B3B3B3"/>
                </a:solidFill>
                <a:latin typeface="Segoe UI"/>
              </a:rPr>
              <a:t>1.  85.000 canciones analizadas rigurosamente.
2.  4 perfiles sonoros y 3 hallazgos accionables.
3.  Una herramienta lista para producción.
</a:t>
            </a:r>
          </a:p>
          <a:p>
            <a:pPr>
              <a:spcBef>
                <a:spcPts val="800"/>
              </a:spcBef>
            </a:pPr>
            <a:r>
              <a:rPr sz="4600" b="1">
                <a:solidFill>
                  <a:srgbClr val="1DB954"/>
                </a:solidFill>
                <a:latin typeface="Segoe UI"/>
              </a:rPr>
              <a:t>¿Preguntas?
</a:t>
            </a:r>
          </a:p>
          <a:p>
            <a:r>
              <a:rPr sz="1500">
                <a:solidFill>
                  <a:srgbClr val="B3B3B3"/>
                </a:solidFill>
                <a:latin typeface="Segoe UI"/>
              </a:rPr>
              <a:t>Repositorio: github.com/mkinaa/MineriaDatos  ·  Plataforma: sounddata-analytics.onrender.com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B954"/>
                </a:solidFill>
                <a:latin typeface="Segoe UI"/>
              </a:rPr>
              <a:t>ANEXO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ANEXO A5: ARQUITECTURA Y SUITE DE PRUEBAS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44805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quitectura_sist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737360"/>
            <a:ext cx="7589520" cy="3794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