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81F2E"/>
          </a:solidFill>
          <a:ln w="12700">
            <a:solidFill>
              <a:srgbClr val="1DB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B954"/>
                </a:solidFill>
              </a:rPr>
              <a:t>PLATAFORMA WEB: SOUNDDATA ANALYTICS
</a:t>
            </a:r>
          </a:p>
          <a:p>
            <a:pPr algn="ctr"/>
            <a:r>
              <a:rPr sz="1600" b="1">
                <a:solidFill>
                  <a:srgbClr val="F8FAFC"/>
                </a:solidFill>
              </a:rPr>
              <a:t>Inteligencia de Datos y Simulación Predictiva para la Industria Musical
</a:t>
            </a:r>
          </a:p>
          <a:p>
            <a:pPr algn="ctr"/>
            <a:r>
              <a:rPr sz="1200" b="0">
                <a:solidFill>
                  <a:srgbClr val="94A3B8"/>
                </a:solidFill>
              </a:rPr>
              <a:t>Demostración de Funcionalidades, Vistas Interactivas y Persistencia Transaccional
</a:t>
            </a:r>
          </a:p>
          <a:p>
            <a:pPr algn="ctr"/>
            <a:r>
              <a:rPr sz="1100" b="0">
                <a:solidFill>
                  <a:srgbClr val="F8FAFC"/>
                </a:solidFill>
              </a:rPr>
              <a:t>Equipo: Vicente Muñoz • Juan Ortiz • Jordan Murillo • Jorge Moncada • Jose Mendez • Bastian Parraguez
</a:t>
            </a:r>
          </a:p>
          <a:p>
            <a:pPr algn="ctr"/>
            <a:r>
              <a:rPr sz="1000" b="0">
                <a:solidFill>
                  <a:srgbClr val="38BDF8"/>
                </a:solidFill>
              </a:rPr>
              <a:t>FastAPI • Bootstrap 5 Dark • Chart.js • SQLite • Scikit-Learn
Universidad Santo Tomás — Minería de Datos (IEI-067)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B954"/>
                </a:solidFill>
              </a:rPr>
              <a:t>VISIÓN GENERAL DEL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8FAFC"/>
                </a:solidFill>
              </a:rPr>
              <a:t>Propósito de la Plataforma y Arquitectura del Sistema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4754880" cy="4937760"/>
          </a:xfrm>
          <a:prstGeom prst="roundRect">
            <a:avLst/>
          </a:prstGeom>
          <a:solidFill>
            <a:srgbClr val="181F2E"/>
          </a:solidFill>
          <a:ln w="12700">
            <a:solidFill>
              <a:srgbClr val="263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DB954"/>
                </a:solidFill>
              </a:rPr>
              <a:t>¿Qué problema resuelve SoundData?
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F8FAFC"/>
                </a:solidFill>
              </a:rPr>
              <a:t>• Toma de Decisiones Guiada por Datos: </a:t>
            </a:r>
            <a:r>
              <a:rPr sz="1050" b="0">
                <a:solidFill>
                  <a:srgbClr val="94A3B8"/>
                </a:solidFill>
              </a:rPr>
              <a:t>Permite a sellos y productores evaluar maquetas musicales antes de invertir en promoción.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F8FAFC"/>
                </a:solidFill>
              </a:rPr>
              <a:t>• Simulación en Tiempo Real: </a:t>
            </a:r>
            <a:r>
              <a:rPr sz="1050" b="0">
                <a:solidFill>
                  <a:srgbClr val="94A3B8"/>
                </a:solidFill>
              </a:rPr>
              <a:t>Ajuste dinámico de parámetros acústicos (BPM, energía, bailabilidad) con inferencia instantánea.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F8FAFC"/>
                </a:solidFill>
              </a:rPr>
              <a:t>• Persistencia de Portafolio: </a:t>
            </a:r>
            <a:r>
              <a:rPr sz="1050" b="0">
                <a:solidFill>
                  <a:srgbClr val="94A3B8"/>
                </a:solidFill>
              </a:rPr>
              <a:t>Almacenamiento corporativo de canciones analizadas con base de datos SQLite integrada.</a:t>
            </a:r>
          </a:p>
          <a:p>
            <a:pPr>
              <a:spcBef>
                <a:spcPts val="800"/>
              </a:spcBef>
            </a:pPr>
            <a:r>
              <a:rPr sz="1100" b="1">
                <a:solidFill>
                  <a:srgbClr val="F8FAFC"/>
                </a:solidFill>
              </a:rPr>
              <a:t>• Arquitectura Ligera y Desacoplada: </a:t>
            </a:r>
            <a:r>
              <a:rPr sz="1050" b="0">
                <a:solidFill>
                  <a:srgbClr val="94A3B8"/>
                </a:solidFill>
              </a:rPr>
              <a:t>Frontend rápido en Bootstrap 5 consumiendo una API REST asíncrona en FastAPI.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371600"/>
            <a:ext cx="5669280" cy="4937760"/>
          </a:xfrm>
          <a:prstGeom prst="roundRect">
            <a:avLst/>
          </a:prstGeom>
          <a:solidFill>
            <a:srgbClr val="181F2E"/>
          </a:solidFill>
          <a:ln w="12700">
            <a:solidFill>
              <a:srgbClr val="263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rquitectura_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1737360"/>
            <a:ext cx="539496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B954"/>
                </a:solidFill>
              </a:rPr>
              <a:t>VISTA 1 — DASHBOARD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8FAFC"/>
                </a:solidFill>
              </a:rPr>
              <a:t>Pestaña 1: Análisis Global de Oyentes y Métricas Clave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858000" cy="4937760"/>
          </a:xfrm>
          <a:prstGeom prst="roundRect">
            <a:avLst/>
          </a:prstGeom>
          <a:solidFill>
            <a:srgbClr val="181F2E"/>
          </a:solidFill>
          <a:ln w="12700">
            <a:solidFill>
              <a:srgbClr val="263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pp_vista_1_analisis_oy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6675120" cy="37547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0" y="1371600"/>
            <a:ext cx="3657600" cy="4937760"/>
          </a:xfrm>
          <a:prstGeom prst="roundRect">
            <a:avLst/>
          </a:prstGeom>
          <a:solidFill>
            <a:srgbClr val="181F2E"/>
          </a:solidFill>
          <a:ln w="12700">
            <a:solidFill>
              <a:srgbClr val="263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DB954"/>
                </a:solidFill>
              </a:rPr>
              <a:t>Capacidades de la Vista:
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F8FAFC"/>
                </a:solidFill>
              </a:rPr>
              <a:t>• KPIs en Tiempo Real: </a:t>
            </a:r>
            <a:r>
              <a:rPr sz="1000" b="0">
                <a:solidFill>
                  <a:srgbClr val="94A3B8"/>
                </a:solidFill>
              </a:rPr>
              <a:t>Muestra oyentes acumulados (841.0 M), género predominante (Clásica/Pop) y país líder en reproducciones (Alemania).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F8FAFC"/>
                </a:solidFill>
              </a:rPr>
              <a:t>• Gráficos Dinámicos Chart.js: </a:t>
            </a:r>
            <a:r>
              <a:rPr sz="1000" b="0">
                <a:solidFill>
                  <a:srgbClr val="94A3B8"/>
                </a:solidFill>
              </a:rPr>
              <a:t>Distribución comparativa de volumen de streams por cada uno de los 12 géneros musicales.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F8FAFC"/>
                </a:solidFill>
              </a:rPr>
              <a:t>• Participación Territorial: </a:t>
            </a:r>
            <a:r>
              <a:rPr sz="1000" b="0">
                <a:solidFill>
                  <a:srgbClr val="94A3B8"/>
                </a:solidFill>
              </a:rPr>
              <a:t>Gráfico de dona con porcentaje de cuota de mercado por país.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F8FAFC"/>
                </a:solidFill>
              </a:rPr>
              <a:t>• Barra de Resumen Porcentual: </a:t>
            </a:r>
            <a:r>
              <a:rPr sz="1000" b="0">
                <a:solidFill>
                  <a:srgbClr val="94A3B8"/>
                </a:solidFill>
              </a:rPr>
              <a:t>Porcentaje de penetración de oyentes ordenado por popularidad.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B954"/>
                </a:solidFill>
              </a:rPr>
              <a:t>VISTA 2 — SEGMENTACIÓN DETALLADA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8FAFC"/>
                </a:solidFill>
              </a:rPr>
              <a:t>Pestaña 2: Segmentación Univariada de Oyentes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858000" cy="4937760"/>
          </a:xfrm>
          <a:prstGeom prst="roundRect">
            <a:avLst/>
          </a:prstGeom>
          <a:solidFill>
            <a:srgbClr val="181F2E"/>
          </a:solidFill>
          <a:ln w="12700">
            <a:solidFill>
              <a:srgbClr val="263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pp_vista_2_segmentacion_atribu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6675120" cy="37547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0" y="1371600"/>
            <a:ext cx="3657600" cy="4937760"/>
          </a:xfrm>
          <a:prstGeom prst="roundRect">
            <a:avLst/>
          </a:prstGeom>
          <a:solidFill>
            <a:srgbClr val="181F2E"/>
          </a:solidFill>
          <a:ln w="12700">
            <a:solidFill>
              <a:srgbClr val="263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DB954"/>
                </a:solidFill>
              </a:rPr>
              <a:t>Filtros y Segmentación:
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F8FAFC"/>
                </a:solidFill>
              </a:rPr>
              <a:t>• Selectores por Pill (100% Español): </a:t>
            </a:r>
            <a:r>
              <a:rPr sz="1000" b="0">
                <a:solidFill>
                  <a:srgbClr val="94A3B8"/>
                </a:solidFill>
              </a:rPr>
              <a:t>Permite segmentar con un clic por Género, País, Año de Lanzamiento, Popularidad, Bailabilidad, Energía y Contenido Explícito.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F8FAFC"/>
                </a:solidFill>
              </a:rPr>
              <a:t>• Conteo de Categorías: </a:t>
            </a:r>
            <a:r>
              <a:rPr sz="1000" b="0">
                <a:solidFill>
                  <a:srgbClr val="94A3B8"/>
                </a:solidFill>
              </a:rPr>
              <a:t>Cálculo instantáneo de millones de oyentes y porcentaje de peso de cada grupo.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F8FAFC"/>
                </a:solidFill>
              </a:rPr>
              <a:t>• Tabla de Participación: </a:t>
            </a:r>
            <a:r>
              <a:rPr sz="1000" b="0">
                <a:solidFill>
                  <a:srgbClr val="94A3B8"/>
                </a:solidFill>
              </a:rPr>
              <a:t>Visualización ordenada de penetración sobre los 85.000 registros.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F8FAFC"/>
                </a:solidFill>
              </a:rPr>
              <a:t>• Exportación JSON: </a:t>
            </a:r>
            <a:r>
              <a:rPr sz="1000" b="0">
                <a:solidFill>
                  <a:srgbClr val="94A3B8"/>
                </a:solidFill>
              </a:rPr>
              <a:t>Botón para exportar el resumen analítico filtrado para su uso en reportes ejecutivos.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B954"/>
                </a:solidFill>
              </a:rPr>
              <a:t>VISTA 3 — MOTOR DE INFERENCIA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8FAFC"/>
                </a:solidFill>
              </a:rPr>
              <a:t>Pestaña 3: Simulador de Éxito en Tiempo Real (Machine Learning)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858000" cy="4937760"/>
          </a:xfrm>
          <a:prstGeom prst="roundRect">
            <a:avLst/>
          </a:prstGeom>
          <a:solidFill>
            <a:srgbClr val="181F2E"/>
          </a:solidFill>
          <a:ln w="12700">
            <a:solidFill>
              <a:srgbClr val="263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pp_vista_3_simulador_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6675120" cy="37547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0" y="1371600"/>
            <a:ext cx="3657600" cy="4937760"/>
          </a:xfrm>
          <a:prstGeom prst="roundRect">
            <a:avLst/>
          </a:prstGeom>
          <a:solidFill>
            <a:srgbClr val="181F2E"/>
          </a:solidFill>
          <a:ln w="12700">
            <a:solidFill>
              <a:srgbClr val="263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DB954"/>
                </a:solidFill>
              </a:rPr>
              <a:t>Inferencia Triple Unificada:
</a:t>
            </a:r>
          </a:p>
          <a:p>
            <a:pPr>
              <a:spcBef>
                <a:spcPts val="600"/>
              </a:spcBef>
            </a:pPr>
            <a:r>
              <a:rPr sz="1000" b="1">
                <a:solidFill>
                  <a:srgbClr val="F8FAFC"/>
                </a:solidFill>
              </a:rPr>
              <a:t>• Control Acústico Intuitivo: </a:t>
            </a:r>
            <a:r>
              <a:rPr sz="950" b="0">
                <a:solidFill>
                  <a:srgbClr val="94A3B8"/>
                </a:solidFill>
              </a:rPr>
              <a:t>Deslizadores en tiempo real para BPM (50-220), Energía, Bailabilidad, Sonoridad (dB) e Instrumentalidad.</a:t>
            </a:r>
          </a:p>
          <a:p>
            <a:pPr>
              <a:spcBef>
                <a:spcPts val="600"/>
              </a:spcBef>
            </a:pPr>
            <a:r>
              <a:rPr sz="1000" b="1">
                <a:solidFill>
                  <a:srgbClr val="F8FAFC"/>
                </a:solidFill>
              </a:rPr>
              <a:t>• Modelo 1 (Árbol de Decisión): </a:t>
            </a:r>
            <a:r>
              <a:rPr sz="950" b="0">
                <a:solidFill>
                  <a:srgbClr val="94A3B8"/>
                </a:solidFill>
              </a:rPr>
              <a:t>Predice si la canción alcanzará el Top 25% de streams y entrega la probabilidad porcentual estimada.</a:t>
            </a:r>
          </a:p>
          <a:p>
            <a:pPr>
              <a:spcBef>
                <a:spcPts val="600"/>
              </a:spcBef>
            </a:pPr>
            <a:r>
              <a:rPr sz="1000" b="1">
                <a:solidFill>
                  <a:srgbClr val="F8FAFC"/>
                </a:solidFill>
              </a:rPr>
              <a:t>• Modelo 2 (K-Means Clustering): </a:t>
            </a:r>
            <a:r>
              <a:rPr sz="950" b="0">
                <a:solidFill>
                  <a:srgbClr val="94A3B8"/>
                </a:solidFill>
              </a:rPr>
              <a:t>Clasifica el tema en uno de los 4 arquetipos sonoros (Pop Radio, Chill, Rock/Fiesta o Urbano).</a:t>
            </a:r>
          </a:p>
          <a:p>
            <a:pPr>
              <a:spcBef>
                <a:spcPts val="600"/>
              </a:spcBef>
            </a:pPr>
            <a:r>
              <a:rPr sz="1000" b="1">
                <a:solidFill>
                  <a:srgbClr val="F8FAFC"/>
                </a:solidFill>
              </a:rPr>
              <a:t>• Modelo 3 (Reglas Apriori): </a:t>
            </a:r>
            <a:r>
              <a:rPr sz="950" b="0">
                <a:solidFill>
                  <a:srgbClr val="94A3B8"/>
                </a:solidFill>
              </a:rPr>
              <a:t>Entrega recomendaciones accionables de afinidad de género y mercado.</a:t>
            </a:r>
          </a:p>
          <a:p>
            <a:pPr>
              <a:spcBef>
                <a:spcPts val="600"/>
              </a:spcBef>
            </a:pPr>
            <a:r>
              <a:rPr sz="1000" b="1">
                <a:solidFill>
                  <a:srgbClr val="F8FAFC"/>
                </a:solidFill>
              </a:rPr>
              <a:t>• Guardado en Portafolio: </a:t>
            </a:r>
            <a:r>
              <a:rPr sz="950" b="0">
                <a:solidFill>
                  <a:srgbClr val="94A3B8"/>
                </a:solidFill>
              </a:rPr>
              <a:t>Botón directo para registrar el demo evaluado en SQLite sin recargar la página.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B954"/>
                </a:solidFill>
              </a:rPr>
              <a:t>VISTA 4 — PERSISTENCIA Y ADMINISTRACIÓN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8FAFC"/>
                </a:solidFill>
              </a:rPr>
              <a:t>Pestaña 4: Portafolio de Canciones &amp; Gestión CRUD (SQLite)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6858000" cy="4937760"/>
          </a:xfrm>
          <a:prstGeom prst="roundRect">
            <a:avLst/>
          </a:prstGeom>
          <a:solidFill>
            <a:srgbClr val="181F2E"/>
          </a:solidFill>
          <a:ln w="12700">
            <a:solidFill>
              <a:srgbClr val="263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pp_vista_4_portafolio_cr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6675120" cy="37547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2400" y="1371600"/>
            <a:ext cx="3657600" cy="4937760"/>
          </a:xfrm>
          <a:prstGeom prst="roundRect">
            <a:avLst/>
          </a:prstGeom>
          <a:solidFill>
            <a:srgbClr val="181F2E"/>
          </a:solidFill>
          <a:ln w="12700">
            <a:solidFill>
              <a:srgbClr val="263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DB954"/>
                </a:solidFill>
              </a:rPr>
              <a:t>Funciones Transaccionales:
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F8FAFC"/>
                </a:solidFill>
              </a:rPr>
              <a:t>• Persistencia Real (SQLite 3): </a:t>
            </a:r>
            <a:r>
              <a:rPr sz="1000" b="0">
                <a:solidFill>
                  <a:srgbClr val="94A3B8"/>
                </a:solidFill>
              </a:rPr>
              <a:t>Base de datos relacional 'sounddata.db' que preserva el catálogo y los demos evaluados.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F8FAFC"/>
                </a:solidFill>
              </a:rPr>
              <a:t>• Operaciones CRUD Completas: </a:t>
            </a:r>
            <a:r>
              <a:rPr sz="1000" b="0">
                <a:solidFill>
                  <a:srgbClr val="94A3B8"/>
                </a:solidFill>
              </a:rPr>
              <a:t>Crear nuevas pistas manuales, consultar con filtros dinámicos, editar atributos en modal interactivo y eliminar registros obsoletos.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F8FAFC"/>
                </a:solidFill>
              </a:rPr>
              <a:t>• Búsqueda Rápida y Filtros: </a:t>
            </a:r>
            <a:r>
              <a:rPr sz="1000" b="0">
                <a:solidFill>
                  <a:srgbClr val="94A3B8"/>
                </a:solidFill>
              </a:rPr>
              <a:t>Filtrado en vivo por texto, género musical y diagnóstico de éxito (Éxito vs Estándar).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F8FAFC"/>
                </a:solidFill>
              </a:rPr>
              <a:t>• Semillado Demostrativo: </a:t>
            </a:r>
            <a:r>
              <a:rPr sz="1000" b="0">
                <a:solidFill>
                  <a:srgbClr val="94A3B8"/>
                </a:solidFill>
              </a:rPr>
              <a:t>Carga inicial automática de canciones semilla para evaluación inmediata de la comisión.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DB954"/>
                </a:solidFill>
              </a:rPr>
              <a:t>ESTABILIDAD Y DESPLIEGUE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8FAFC"/>
                </a:solidFill>
              </a:rPr>
              <a:t>Calidad del Software, Pruebas Unitarias y Despliegue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181F2E"/>
          </a:solidFill>
          <a:ln w="12700">
            <a:solidFill>
              <a:srgbClr val="1DB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DB954"/>
                </a:solidFill>
              </a:rPr>
              <a:t>🧪 Pruebas Unitarias (Pytest)
</a:t>
            </a:r>
          </a:p>
          <a:p>
            <a:r>
              <a:rPr sz="1100" b="1">
                <a:solidFill>
                  <a:srgbClr val="F8FAFC"/>
                </a:solidFill>
              </a:rPr>
              <a:t>17 Tests Aprobados al 100%
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94A3B8"/>
                </a:solidFill>
              </a:rPr>
              <a:t>• test_api.py: Endpoints HTTP, esquemas Pydantic y códigos de respuesta.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94A3B8"/>
                </a:solidFill>
              </a:rPr>
              <a:t>• test_database.py: Ciclo CRUD completo en SQLite aislado.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94A3B8"/>
                </a:solidFill>
              </a:rPr>
              <a:t>• test_modelos.py: Carga de joblib, transformador Scaler e inferencia matemática.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94A3B8"/>
                </a:solidFill>
              </a:rPr>
              <a:t>• Tiempo de ejecución: &lt; 3 segundos.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181F2E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8BDF8"/>
                </a:solidFill>
              </a:rPr>
              <a:t>🛡️ Tolerancia a Errores
</a:t>
            </a:r>
          </a:p>
          <a:p>
            <a:r>
              <a:rPr sz="1100" b="1">
                <a:solidFill>
                  <a:srgbClr val="F8FAFC"/>
                </a:solidFill>
              </a:rPr>
              <a:t>Manejo Amigable en Español
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94A3B8"/>
                </a:solidFill>
              </a:rPr>
              <a:t>• Captura de excepciones en esquemas Pydantic.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94A3B8"/>
                </a:solidFill>
              </a:rPr>
              <a:t>• Cero pantallas de error o tracebacks de Python para el usuario final.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94A3B8"/>
                </a:solidFill>
              </a:rPr>
              <a:t>• Alertas visuales en interfaz ante valores fuera de rango.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94A3B8"/>
                </a:solidFill>
              </a:rPr>
              <a:t>• Auto-recuperación de conexión a base de datos.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181F2E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645920"/>
            <a:ext cx="3017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A855F7"/>
                </a:solidFill>
              </a:rPr>
              <a:t>☁️ Despliegue Cloud (Render)
</a:t>
            </a:r>
          </a:p>
          <a:p>
            <a:r>
              <a:rPr sz="1100" b="1">
                <a:solidFill>
                  <a:srgbClr val="F8FAFC"/>
                </a:solidFill>
              </a:rPr>
              <a:t>Acceso Público 24/7
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94A3B8"/>
                </a:solidFill>
              </a:rPr>
              <a:t>• Servidor ASGI Uvicorn contenerizable.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94A3B8"/>
                </a:solidFill>
              </a:rPr>
              <a:t>• Archivo Procfile configurado en la raíz.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94A3B8"/>
                </a:solidFill>
              </a:rPr>
              <a:t>• Repositorio sincronizado con GitHub CI/CD.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94A3B8"/>
                </a:solidFill>
              </a:rPr>
              <a:t>• Video de respaldo de 2 min ante contingencias de 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