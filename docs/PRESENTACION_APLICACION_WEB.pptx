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914400"/>
            <a:ext cx="9997135" cy="502920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371600"/>
            <a:ext cx="926561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0B981"/>
                </a:solidFill>
              </a:rPr>
              <a:t>SOUNDDATA ANALYTICS
</a:t>
            </a:r>
          </a:p>
          <a:p>
            <a:pPr algn="ctr">
              <a:spcBef>
                <a:spcPts val="800"/>
              </a:spcBef>
            </a:pPr>
            <a:r>
              <a:rPr sz="2000" b="1">
                <a:solidFill>
                  <a:srgbClr val="FFFFFF"/>
                </a:solidFill>
              </a:rPr>
              <a:t>Plataforma Web de Inteligencia y Simulación Musical
</a:t>
            </a:r>
          </a:p>
          <a:p>
            <a:pPr algn="ctr">
              <a:spcBef>
                <a:spcPts val="1600"/>
              </a:spcBef>
            </a:pPr>
            <a:r>
              <a:rPr sz="1500" b="1">
                <a:solidFill>
                  <a:srgbClr val="38BDF8"/>
                </a:solidFill>
              </a:rPr>
              <a:t>FastAPI  •  Bootstrap 5 Dark  •  SQLite  •  Machine Learning
</a:t>
            </a:r>
          </a:p>
          <a:p>
            <a:pPr algn="ctr">
              <a:spcBef>
                <a:spcPts val="2800"/>
              </a:spcBef>
            </a:pPr>
            <a:r>
              <a:rPr sz="1300" b="0">
                <a:solidFill>
                  <a:srgbClr val="CBD5E1"/>
                </a:solidFill>
              </a:rPr>
              <a:t>Demostración Funcional y Vistas de Usuario
</a:t>
            </a:r>
            <a:r>
              <a:rPr sz="1200" b="0">
                <a:solidFill>
                  <a:srgbClr val="94A3B8"/>
                </a:solidFill>
              </a:rPr>
              <a:t>Universidad Santo Tomás — Minería de Datos (IEI-067)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0B981"/>
                </a:solidFill>
              </a:rPr>
              <a:t>PROPÓSITO DEL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Arquitectura y Valor para el Usuario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389120" cy="14173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0233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0B981"/>
                </a:solidFill>
              </a:rPr>
              <a:t>🎯 Decisiones con Datos
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CBD5E1"/>
                </a:solidFill>
              </a:rPr>
              <a:t>Evaluación analítica de maquetas antes de invertir en producción musical.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63240"/>
            <a:ext cx="4389120" cy="14173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40233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8BDF8"/>
                </a:solidFill>
              </a:rPr>
              <a:t>⚡ Inferencia Inmediata
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CBD5E1"/>
                </a:solidFill>
              </a:rPr>
              <a:t>3 modelos de Machine Learning respondiendo en milisegundos.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63440"/>
            <a:ext cx="4389120" cy="14173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800600"/>
            <a:ext cx="40233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A855F7"/>
                </a:solidFill>
              </a:rPr>
              <a:t>💾 Portafolio Transaccional
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CBD5E1"/>
                </a:solidFill>
              </a:rPr>
              <a:t>Base de datos SQLite integrada para gestionar canciones evaluadas.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1463040"/>
            <a:ext cx="6035040" cy="48463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2E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rquitectura_sist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737360"/>
            <a:ext cx="576072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0B981"/>
                </a:solidFill>
              </a:rPr>
              <a:t>MONITOR DE AUDIENCIAS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Vista 1: Análisis Global de Oyentes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7132320" cy="48463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2E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pp_vista_1_analisis_oye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600200"/>
            <a:ext cx="6903720" cy="388334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138160" y="1463040"/>
            <a:ext cx="3291840" cy="14173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1645920"/>
            <a:ext cx="2926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8BDF8"/>
                </a:solidFill>
              </a:rPr>
              <a:t>841 Millones
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CBD5E1"/>
                </a:solidFill>
              </a:rPr>
              <a:t>Total de oyentes acumulados en el catálogo.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3063240"/>
            <a:ext cx="3291840" cy="14173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3246120"/>
            <a:ext cx="2926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0B981"/>
                </a:solidFill>
              </a:rPr>
              <a:t>12 Géneros Musicales
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CBD5E1"/>
                </a:solidFill>
              </a:rPr>
              <a:t>Comparativa interactiva en gráficos de barras (Chart.js).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4663440"/>
            <a:ext cx="3291840" cy="14173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4846320"/>
            <a:ext cx="2926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59E0B"/>
                </a:solidFill>
              </a:rPr>
              <a:t>Cuota de Mercado
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CBD5E1"/>
                </a:solidFill>
              </a:rPr>
              <a:t>Distribución territorial por países en gráfico de dona.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8BDF8"/>
                </a:solidFill>
              </a:rPr>
              <a:t>ANÁLISIS POR CATEGORÍA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Vista 2: Segmentación Univariada de Audiencias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7132320" cy="48463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2E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pp_vista_2_segmentacion_atribu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600200"/>
            <a:ext cx="6903720" cy="388334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138160" y="1463040"/>
            <a:ext cx="3291840" cy="14173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1645920"/>
            <a:ext cx="2926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8BDF8"/>
                </a:solidFill>
              </a:rPr>
              <a:t>7 Selectores Dinámicos
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CBD5E1"/>
                </a:solidFill>
              </a:rPr>
              <a:t>Filtro rápido por Género, País, Año, Popularidad, Bailabilidad y Energía.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3063240"/>
            <a:ext cx="3291840" cy="14173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3246120"/>
            <a:ext cx="2926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0B981"/>
                </a:solidFill>
              </a:rPr>
              <a:t>Tabla de Penetración
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CBD5E1"/>
                </a:solidFill>
              </a:rPr>
              <a:t>Cálculo en tiempo real del porcentaje de peso de cada segmento.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4663440"/>
            <a:ext cx="3291840" cy="14173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4846320"/>
            <a:ext cx="2926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59E0B"/>
                </a:solidFill>
              </a:rPr>
              <a:t>Descarga en 1 Clic
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CBD5E1"/>
                </a:solidFill>
              </a:rPr>
              <a:t>Botón para exportar el resumen analítico estructurado en JSON.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0B981"/>
                </a:solidFill>
              </a:rPr>
              <a:t>MOTOR DE INFERENCIA EN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Vista 3: Simulador Predictivo con Machine Learning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7132320" cy="48463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2E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pp_vista_3_simulador_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600200"/>
            <a:ext cx="6903720" cy="388334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138160" y="1463040"/>
            <a:ext cx="3291840" cy="14173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1645920"/>
            <a:ext cx="2926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8BDF8"/>
                </a:solidFill>
              </a:rPr>
              <a:t>🎛️ Sliders Acústicos
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CBD5E1"/>
                </a:solidFill>
              </a:rPr>
              <a:t>Ajuste en vivo de BPM, Energía, Sonoridad, Bailabilidad e Instrumentalidad.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3063240"/>
            <a:ext cx="3291840" cy="14173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3246120"/>
            <a:ext cx="2926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0B981"/>
                </a:solidFill>
              </a:rPr>
              <a:t>🧠 Triple Diagnóstico
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CBD5E1"/>
                </a:solidFill>
              </a:rPr>
              <a:t>Predicción de Hit (Árbol) + Clúster Sonoro (K-Means) + Afinidad (Apriori).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4663440"/>
            <a:ext cx="3291840" cy="14173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4846320"/>
            <a:ext cx="2926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A855F7"/>
                </a:solidFill>
              </a:rPr>
              <a:t>💾 Guardar en Portafolio
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CBD5E1"/>
                </a:solidFill>
              </a:rPr>
              <a:t>Registro directo de la canción evaluada en SQLite con un solo clic.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A855F7"/>
                </a:solidFill>
              </a:rPr>
              <a:t>ADMINISTRACIÓN Y PERSISTENCIA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Vista 4: Portafolio de Canciones &amp; Gestión CRUD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7132320" cy="48463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2E3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pp_vista_4_portafolio_cr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600200"/>
            <a:ext cx="6903720" cy="388334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138160" y="1463040"/>
            <a:ext cx="3291840" cy="14173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1645920"/>
            <a:ext cx="2926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A855F7"/>
                </a:solidFill>
              </a:rPr>
              <a:t>Base de Datos SQLite
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CBD5E1"/>
                </a:solidFill>
              </a:rPr>
              <a:t>Persistencia segura y liviana mediante la base de datos 'sounddata.db'.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3063240"/>
            <a:ext cx="3291840" cy="14173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3246120"/>
            <a:ext cx="2926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0B981"/>
                </a:solidFill>
              </a:rPr>
              <a:t>Operaciones Completas
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CBD5E1"/>
                </a:solidFill>
              </a:rPr>
              <a:t>Creación manual, edición modal, filtrado por género y eliminación.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4663440"/>
            <a:ext cx="3291840" cy="14173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4846320"/>
            <a:ext cx="2926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8BDF8"/>
                </a:solidFill>
              </a:rPr>
              <a:t>Búsqueda en Tiempo Real
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CBD5E1"/>
                </a:solidFill>
              </a:rPr>
              <a:t>Filtrado instantáneo sin recargar la página web.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0B981"/>
                </a:solidFill>
              </a:rPr>
              <a:t>CONFIABILIDAD Y ESTABILIDAD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</a:rPr>
              <a:t>Calidad de Software y Despliegue en la Nube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8463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0B981"/>
                </a:solidFill>
              </a:rPr>
              <a:t>🧪 17/17 Pruebas Unitarias
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FFFFFF"/>
                </a:solidFill>
              </a:rPr>
              <a:t>100% de Tests Aprobados
</a:t>
            </a:r>
          </a:p>
          <a:p>
            <a:pPr>
              <a:spcBef>
                <a:spcPts val="800"/>
              </a:spcBef>
            </a:pPr>
            <a:r>
              <a:rPr sz="1250" b="0">
                <a:solidFill>
                  <a:srgbClr val="CBD5E1"/>
                </a:solidFill>
              </a:rPr>
              <a:t>✔ Validación de endpoints en test_api.py</a:t>
            </a:r>
          </a:p>
          <a:p>
            <a:pPr>
              <a:spcBef>
                <a:spcPts val="800"/>
              </a:spcBef>
            </a:pPr>
            <a:r>
              <a:rPr sz="1250" b="0">
                <a:solidFill>
                  <a:srgbClr val="CBD5E1"/>
                </a:solidFill>
              </a:rPr>
              <a:t>✔ Ciclo CRUD completo en test_database.py</a:t>
            </a:r>
          </a:p>
          <a:p>
            <a:pPr>
              <a:spcBef>
                <a:spcPts val="800"/>
              </a:spcBef>
            </a:pPr>
            <a:r>
              <a:rPr sz="1250" b="0">
                <a:solidFill>
                  <a:srgbClr val="CBD5E1"/>
                </a:solidFill>
              </a:rPr>
              <a:t>✔ Inferencia exacta en test_modelos.py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8463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69164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38BDF8"/>
                </a:solidFill>
              </a:rPr>
              <a:t>🛡️ Tolerancia a Fallos
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FFFFFF"/>
                </a:solidFill>
              </a:rPr>
              <a:t>Mensajes Amigables
</a:t>
            </a:r>
          </a:p>
          <a:p>
            <a:pPr>
              <a:spcBef>
                <a:spcPts val="800"/>
              </a:spcBef>
            </a:pPr>
            <a:r>
              <a:rPr sz="1250" b="0">
                <a:solidFill>
                  <a:srgbClr val="CBD5E1"/>
                </a:solidFill>
              </a:rPr>
              <a:t>✔ Control de esquemas con Pydantic.</a:t>
            </a:r>
          </a:p>
          <a:p>
            <a:pPr>
              <a:spcBef>
                <a:spcPts val="800"/>
              </a:spcBef>
            </a:pPr>
            <a:r>
              <a:rPr sz="1250" b="0">
                <a:solidFill>
                  <a:srgbClr val="CBD5E1"/>
                </a:solidFill>
              </a:rPr>
              <a:t>✔ Cero pantallas de error o tracebacks.</a:t>
            </a:r>
          </a:p>
          <a:p>
            <a:pPr>
              <a:spcBef>
                <a:spcPts val="800"/>
              </a:spcBef>
            </a:pPr>
            <a:r>
              <a:rPr sz="1250" b="0">
                <a:solidFill>
                  <a:srgbClr val="CBD5E1"/>
                </a:solidFill>
              </a:rPr>
              <a:t>✔ Validación de rangos numéricos.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846320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69164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A855F7"/>
                </a:solidFill>
              </a:rPr>
              <a:t>☁️ Despliegue en Render
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FFFFFF"/>
                </a:solidFill>
              </a:rPr>
              <a:t>Acceso Público 24/7
</a:t>
            </a:r>
          </a:p>
          <a:p>
            <a:pPr>
              <a:spcBef>
                <a:spcPts val="800"/>
              </a:spcBef>
            </a:pPr>
            <a:r>
              <a:rPr sz="1250" b="0">
                <a:solidFill>
                  <a:srgbClr val="CBD5E1"/>
                </a:solidFill>
              </a:rPr>
              <a:t>✔ Servidor ASGI Uvicorn contenerizable.</a:t>
            </a:r>
          </a:p>
          <a:p>
            <a:pPr>
              <a:spcBef>
                <a:spcPts val="800"/>
              </a:spcBef>
            </a:pPr>
            <a:r>
              <a:rPr sz="1250" b="0">
                <a:solidFill>
                  <a:srgbClr val="CBD5E1"/>
                </a:solidFill>
              </a:rPr>
              <a:t>✔ Integración continua desde GitHub.</a:t>
            </a:r>
          </a:p>
          <a:p>
            <a:pPr>
              <a:spcBef>
                <a:spcPts val="800"/>
              </a:spcBef>
            </a:pPr>
            <a:r>
              <a:rPr sz="1250" b="0">
                <a:solidFill>
                  <a:srgbClr val="CBD5E1"/>
                </a:solidFill>
              </a:rPr>
              <a:t>✔ Video de respaldo de 2 minutos.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