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371600"/>
            <a:ext cx="92656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38BDF8"/>
                </a:solidFill>
              </a:rPr>
              <a:t>MINERÍA DE DATOS CON CRISP-DM
</a:t>
            </a:r>
          </a:p>
          <a:p>
            <a:pPr algn="ctr">
              <a:spcBef>
                <a:spcPts val="800"/>
              </a:spcBef>
            </a:pPr>
            <a:r>
              <a:rPr sz="2000" b="1">
                <a:solidFill>
                  <a:srgbClr val="FFFFFF"/>
                </a:solidFill>
              </a:rPr>
              <a:t>SoundData Analytics: Segmentación y Predicción de Éxito Musical
</a:t>
            </a:r>
          </a:p>
          <a:p>
            <a:pPr algn="ctr">
              <a:spcBef>
                <a:spcPts val="1600"/>
              </a:spcBef>
            </a:pPr>
            <a:r>
              <a:rPr sz="1500" b="1">
                <a:solidFill>
                  <a:srgbClr val="10B981"/>
                </a:solidFill>
              </a:rPr>
              <a:t>Catálogo de 85.000 Canciones de Spotify (2015–2025)
</a:t>
            </a:r>
          </a:p>
          <a:p>
            <a:pPr algn="ctr">
              <a:spcBef>
                <a:spcPts val="2800"/>
              </a:spcBef>
            </a:pPr>
            <a:r>
              <a:rPr sz="1250" b="0">
                <a:solidFill>
                  <a:srgbClr val="CBD5E1"/>
                </a:solidFill>
              </a:rPr>
              <a:t>Grupo 4: Vicente Muñoz • Juan Ortiz • Jordan Murillo • Jorge Moncada • Jose Mendez • Bastian Parraguez
</a:t>
            </a:r>
            <a:r>
              <a:rPr sz="1150" b="0">
                <a:solidFill>
                  <a:srgbClr val="94A3B8"/>
                </a:solidFill>
              </a:rPr>
              <a:t>Docentes Guía: Florentino Vargas &amp; Rosa Rao  |  Universidad Santo Tomás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CRISP-DM — FASES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Fases 1 y 2: Negocio y Comprensión de los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94944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2E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stribucion_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675120" cy="256735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55279" y="1463040"/>
            <a:ext cx="3474720" cy="1417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85.000 Registros
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CBD5E1"/>
                </a:solidFill>
              </a:rPr>
              <a:t>Catálogo global con 17 atributos acústicos y metadatos de mercado.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063240"/>
            <a:ext cx="3474720" cy="1417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32461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0B981"/>
                </a:solidFill>
              </a:rPr>
              <a:t>Top 25% = Éxito
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CBD5E1"/>
                </a:solidFill>
              </a:rPr>
              <a:t>Corte en Percentil 75 (≥ 85.2M de streams) para definir la clase 'es_exito'.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4663440"/>
            <a:ext cx="3474720" cy="1417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48463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9E0B"/>
                </a:solidFill>
              </a:rPr>
              <a:t>Fuerte Asimetría
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CBD5E1"/>
                </a:solidFill>
              </a:rPr>
              <a:t>El 25% de canciones concentra el 68% de las reproducciones totales.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CRISP-DM —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Fase 3: Preparación Rigurosa de los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0B981"/>
                </a:solidFill>
              </a:rPr>
              <a:t>🧹 Limpieza de Nulos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99.8% de Calidad
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Eliminación por lista de solo 180 registros incompletos.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Cero sesgos por imputación artificial en variables acústicas.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Preservación íntegra de 85.000 pistas.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8BDF8"/>
                </a:solidFill>
              </a:rPr>
              <a:t>📐 Outliers con IQR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Fórmula: Q₃ - Q₁
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Límites: Q₁ - 1.5×IQR y Q₃ + 1.5×IQR.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Winsorización (1% y 99%) en BPM y variables extremas.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Conservación intencional de Mega-Hits.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69164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59E0B"/>
                </a:solidFill>
              </a:rPr>
              <a:t>⚖️ Escalado y Split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StandardScaler (Z)
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Estandarización: media 0 y varianza unitaria 1.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Evita distorsión en distancias de K-Means.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CBD5E1"/>
                </a:solidFill>
              </a:rPr>
              <a:t>✔ Split estratificado: 80% Train / 20%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CRISP-DM — ASOCIACIÓN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Fase 4A: Reglas de Asociación con Apriori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228600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149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0B981"/>
                </a:solidFill>
              </a:rPr>
              <a:t>REGLA CLAVE DE MERCADO (LIFT = 3,40)
</a:t>
            </a:r>
          </a:p>
          <a:p>
            <a:pPr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</a:rPr>
              <a:t>[ Alto Volumen de Streams  +  Género Pop ]  ➔  [ Canción de Alta Popularidad ]
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38BDF8"/>
                </a:solidFill>
              </a:rPr>
              <a:t>• Confianza: 61,33% (6 de cada 10 temas cumplen la regla)   • Soporte: 1,21% (+1.020 canciones)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212080" cy="23317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Regla Alternativa: Género R&amp;B
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[ Género R&amp;B + Alto Stream ] ➔ [ Alta Popularidad ]
</a:t>
            </a:r>
            <a:r>
              <a:rPr sz="1300" b="0">
                <a:solidFill>
                  <a:srgbClr val="CBD5E1"/>
                </a:solidFill>
              </a:rPr>
              <a:t>Lift: 3,33  |  Confianza: 60,03% en el catálogo musical.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3977639"/>
            <a:ext cx="5212080" cy="23317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41148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9E0B"/>
                </a:solidFill>
              </a:rPr>
              <a:t>Conclusión de Negocio:
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Las canciones Pop y R&amp;B que logran tracción inicial tienen el triple de probabilidad de convertirse en éxitos transversales frente al resto.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CRISP-DM —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Fase 4B: Segmentación de Catálogo (K-Means, K = 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21792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2E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todo_codo_silu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5943600" cy="2286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223760" y="1463040"/>
            <a:ext cx="4206240" cy="10972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572768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8BDF8"/>
                </a:solidFill>
              </a:rPr>
              <a:t>Clúster 0: Chill &amp; Instrumental
</a:t>
            </a:r>
          </a:p>
          <a:p>
            <a:r>
              <a:rPr sz="1150" b="0">
                <a:solidFill>
                  <a:srgbClr val="CBD5E1"/>
                </a:solidFill>
              </a:rPr>
              <a:t>Baja energía, acústico. Listas de estudio y concentración.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697480"/>
            <a:ext cx="4206240" cy="10972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807208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0B981"/>
                </a:solidFill>
              </a:rPr>
              <a:t>Clúster 1: Pop Comercial
</a:t>
            </a:r>
          </a:p>
          <a:p>
            <a:r>
              <a:rPr sz="1150" b="0">
                <a:solidFill>
                  <a:srgbClr val="CBD5E1"/>
                </a:solidFill>
              </a:rPr>
              <a:t>Bailabilidad y energía optimizadas. Gran rotación radial.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3931920"/>
            <a:ext cx="4206240" cy="10972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4041648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59E0B"/>
                </a:solidFill>
              </a:rPr>
              <a:t>Clúster 2: Rock &amp; Fiesta
</a:t>
            </a:r>
          </a:p>
          <a:p>
            <a:r>
              <a:rPr sz="1150" b="0">
                <a:solidFill>
                  <a:srgbClr val="CBD5E1"/>
                </a:solidFill>
              </a:rPr>
              <a:t>Alta potencia acústica y tempo elevado. Festivales y deportes.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5166360"/>
            <a:ext cx="4206240" cy="10972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5276088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855F7"/>
                </a:solidFill>
              </a:rPr>
              <a:t>Clúster 3: Urbano &amp; Explícito
</a:t>
            </a:r>
          </a:p>
          <a:p>
            <a:r>
              <a:rPr sz="1150" b="0">
                <a:solidFill>
                  <a:srgbClr val="CBD5E1"/>
                </a:solidFill>
              </a:rPr>
              <a:t>Ritmo marcado y lenguaje explícito. Audiencia Gen 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CRISP-DM — CLASIFICACIÓN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Fase 4C: Clasificación de Hits con Árbol de Decisión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2E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bol_decisio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00200"/>
            <a:ext cx="1033272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2120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0B981"/>
                </a:solidFill>
              </a:rPr>
              <a:t>Control de Sobreajuste (max_depth = 3): </a:t>
            </a:r>
            <a:r>
              <a:rPr sz="1300" b="0">
                <a:solidFill>
                  <a:srgbClr val="FFFFFF"/>
                </a:solidFill>
              </a:rPr>
              <a:t>Se limitó a 3 niveles para evitar memorización (profundidades mayores provocaban overfitting de 84% train vs &lt;52% test). Entrega 8 reglas claras e interpretables para productores.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59E0B"/>
                </a:solidFill>
              </a:rPr>
              <a:t>CRISP-DM —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Fase 5: Evaluación y Matriz de Confusión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2E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riz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737360"/>
            <a:ext cx="4389120" cy="337624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35040" y="1463040"/>
            <a:ext cx="5394960" cy="1417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0B981"/>
                </a:solidFill>
              </a:rPr>
              <a:t>74% Precisión en Descarte
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CBD5E1"/>
                </a:solidFill>
              </a:rPr>
              <a:t>8.253 Verdaderos Negativos. Permite filtrar maquetas sin potencial con alta fiabilidad.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63240"/>
            <a:ext cx="5394960" cy="1417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3246120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57,95% Exactitud Global
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CBD5E1"/>
                </a:solidFill>
              </a:rPr>
              <a:t>Desempeño sobre 17.000 canciones de prueba independientes.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663440"/>
            <a:ext cx="5394960" cy="1417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846320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9E0B"/>
                </a:solidFill>
              </a:rPr>
              <a:t>Límite Acústico Natural
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CBD5E1"/>
                </a:solidFill>
              </a:rPr>
              <a:t>El éxito musical es multifactorial: depende además de inversión en marketing y viralización.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0B981"/>
                </a:solidFill>
              </a:rPr>
              <a:t>CRISP-DM —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</a:rPr>
              <a:t>Conclusiones y Recomendaciones de Negocio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0B981"/>
                </a:solidFill>
              </a:rPr>
              <a:t>🎯 Estrategia Pop &amp; Urbano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Inversión en Publicidad
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CBD5E1"/>
                </a:solidFill>
              </a:rPr>
              <a:t>✔ Concentrar pauta en canciones con bailabilidad &gt; 0.65 y energía &gt; 0.60.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CBD5E1"/>
                </a:solidFill>
              </a:rPr>
              <a:t>✔ Promoción vertical en TikTok/Reels para audiencias de 16 a 24 años.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🧘 Estrategia Acústica / Chill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Listas Funcionales
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CBD5E1"/>
                </a:solidFill>
              </a:rPr>
              <a:t>✔ Evitar costosas campañas de radio comercial.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CBD5E1"/>
                </a:solidFill>
              </a:rPr>
              <a:t>✔ Posicionar en playlists de estudio, concentración y sueño (mayor retención).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69164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55F7"/>
                </a:solidFill>
              </a:rPr>
              <a:t>🚀 De Datos a Producto Web
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</a:rPr>
              <a:t>Entrega Completa
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CBD5E1"/>
                </a:solidFill>
              </a:rPr>
              <a:t>✔ Plataforma web interactiva con backend FastAPI y persistencia SQLite.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CBD5E1"/>
                </a:solidFill>
              </a:rPr>
              <a:t>✔ 17 pruebas unitarias aprobadas y código listo para producción en la nube.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