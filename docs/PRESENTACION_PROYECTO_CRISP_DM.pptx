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8BDF8"/>
                </a:solidFill>
              </a:rPr>
              <a:t>PROYECTO FINAL: MINERÍA DE DATOS (IEI-067)
</a:t>
            </a:r>
          </a:p>
          <a:p>
            <a:pPr algn="ctr"/>
            <a:r>
              <a:rPr sz="1600" b="1">
                <a:solidFill>
                  <a:srgbClr val="F8FAFC"/>
                </a:solidFill>
              </a:rPr>
              <a:t>Metodología CRISP-DM Aplicada al Streaming Musical (Spotify 2015–2025)
</a:t>
            </a:r>
          </a:p>
          <a:p>
            <a:pPr algn="ctr"/>
            <a:r>
              <a:rPr sz="1200" b="0">
                <a:solidFill>
                  <a:srgbClr val="94A3B8"/>
                </a:solidFill>
              </a:rPr>
              <a:t>Modelado de Clasificación, Clustering de Audiencias y Reglas de Asociación
</a:t>
            </a:r>
          </a:p>
          <a:p>
            <a:pPr algn="ctr"/>
            <a:r>
              <a:rPr sz="1100" b="0">
                <a:solidFill>
                  <a:srgbClr val="F8FAFC"/>
                </a:solidFill>
              </a:rPr>
              <a:t>Grupo 4: Vicente Muñoz • Juan Ortiz • Jordan Murillo • Jorge Moncada • Jose Mendez • Bastian Parraguez
</a:t>
            </a:r>
          </a:p>
          <a:p>
            <a:pPr algn="ctr"/>
            <a:r>
              <a:rPr sz="1000" b="0">
                <a:solidFill>
                  <a:srgbClr val="1DB954"/>
                </a:solidFill>
              </a:rPr>
              <a:t>Universidad Santo Tomás — Docentes: Florentino Vargas &amp; Rosa Rao
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Fases 1 y 2: Comprensión del Negocio y Análisis Exploratorio (EDA)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Definición del Problema y Datos:
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Contexto de Negocio: </a:t>
            </a:r>
            <a:r>
              <a:rPr sz="1000" b="0">
                <a:solidFill>
                  <a:srgbClr val="94A3B8"/>
                </a:solidFill>
              </a:rPr>
              <a:t>Más de 100.000 lanzamientos diarios en Spotify; necesidad de transformar la intuición de A&amp;R en decisiones analíticas.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Dimensión del Dataset: </a:t>
            </a:r>
            <a:r>
              <a:rPr sz="1000" b="0">
                <a:solidFill>
                  <a:srgbClr val="94A3B8"/>
                </a:solidFill>
              </a:rPr>
              <a:t>85.000 canciones y 17 variables originales que cubren atributos acústicos y metadatos de mercado.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Variable Objetivo (Class): </a:t>
            </a:r>
            <a:r>
              <a:rPr sz="1000" b="0">
                <a:solidFill>
                  <a:srgbClr val="94A3B8"/>
                </a:solidFill>
              </a:rPr>
              <a:t>es_exito = 1 si las reproducciones superan el percentil 75 (Q₃ ≈ 85.2 M de streams), 0 en caso contrario.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F8FAFC"/>
                </a:solidFill>
              </a:rPr>
              <a:t>• Hallazgo Clave del EDA: </a:t>
            </a:r>
            <a:r>
              <a:rPr sz="1000" b="0">
                <a:solidFill>
                  <a:srgbClr val="94A3B8"/>
                </a:solidFill>
              </a:rPr>
              <a:t>Fuerte asimetría positiva: el 25% superior de canciones concentra el 68% de los streams totales de la plataforma.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5669280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tribucion_stre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1640"/>
            <a:ext cx="5394960" cy="20749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 3: Preparación Rigurosa de Datos y Preprocesamiento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B954"/>
                </a:solidFill>
              </a:rPr>
              <a:t>🧹 Valores Nulos y Limpieza
</a:t>
            </a:r>
          </a:p>
          <a:p>
            <a:r>
              <a:rPr sz="1100" b="1">
                <a:solidFill>
                  <a:srgbClr val="F8FAFC"/>
                </a:solidFill>
              </a:rPr>
              <a:t>Menos del 0.2% del dataset
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Auditoría con df.isnull().sum().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Eliminación por lista (listwise deletion) sobre 180 filas con texto o audio ausente.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Preservación total de las 85.000 canciones válidas sin sesgos artificiales.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📐 Outliers con Rango IQR
</a:t>
            </a:r>
          </a:p>
          <a:p>
            <a:r>
              <a:rPr sz="1100" b="1">
                <a:solidFill>
                  <a:srgbClr val="F8FAFC"/>
                </a:solidFill>
              </a:rPr>
              <a:t>Fórmula: IQR = Q₃ - Q₁
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Límite Inferior: Q₁ - (1,5 × IQR)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Límite Superior: Q₃ + (1,5 × IQR)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Winsorización acotada (1% y 99%) en BPM y variables extremas.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Conservación justificada de Mega-Hits por valor estratégico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AB308"/>
                </a:solidFill>
              </a:rPr>
              <a:t>⚖️ Estandarización y Split
</a:t>
            </a:r>
          </a:p>
          <a:p>
            <a:r>
              <a:rPr sz="1100" b="1">
                <a:solidFill>
                  <a:srgbClr val="F8FAFC"/>
                </a:solidFill>
              </a:rPr>
              <a:t>StandardScaler + 80/20
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Fórmula Z: z = (x - μ) / σ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Atributos con media μ = 0 y varianza unitaria σ² = 1.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Evita distorsión en distancias euclidianas de K-Means.</a:t>
            </a:r>
          </a:p>
          <a:p>
            <a:pPr>
              <a:spcBef>
                <a:spcPts val="400"/>
              </a:spcBef>
            </a:pPr>
            <a:r>
              <a:rPr sz="1000" b="0">
                <a:solidFill>
                  <a:srgbClr val="94A3B8"/>
                </a:solidFill>
              </a:rPr>
              <a:t>• Partición estratificada (stratify=y): 68.000 Train / 17.000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 4 (MODELADO)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 4A: Minería de Reglas de Asociación con Apriori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8BDF8"/>
                </a:solidFill>
              </a:rPr>
              <a:t>Descubrimiento de Patrones de Afinidad (Librería mlxtend):
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B954"/>
                </a:solidFill>
              </a:rPr>
              <a:t>📌 Regla N° 1: [ Canción con Alta Popularidad ]  ➔  [ Alto Volumen de Streams + Género Pop ]
</a:t>
            </a:r>
            <a:r>
              <a:rPr sz="1050" b="0">
                <a:solidFill>
                  <a:srgbClr val="F8FAFC"/>
                </a:solidFill>
              </a:rPr>
              <a:t>    Soporte: 1,21% | Confianza: 6,69% | Lift: 3,40 (Multiplicador de probabilidad respecto al azar)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B954"/>
                </a:solidFill>
              </a:rPr>
              <a:t>📌 Regla N° 2: [ Alto Volumen de Streams + Género Pop ]  ➔  [ Canción con Alta Popularidad ]
</a:t>
            </a:r>
            <a:r>
              <a:rPr sz="1050" b="0">
                <a:solidFill>
                  <a:srgbClr val="F8FAFC"/>
                </a:solidFill>
              </a:rPr>
              <a:t>    Soporte: 1,21% | Confianza: 61,33% (El 61,3% de temas Pop con alto stream logran alta popularidad) | Lift: 3,40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1DB954"/>
                </a:solidFill>
              </a:rPr>
              <a:t>📌 Regla N° 3: [ Género R&amp;B + Alto Volumen de Streams ]  ➔  [ Canción con Alta Popularidad ]
</a:t>
            </a:r>
            <a:r>
              <a:rPr sz="1050" b="0">
                <a:solidFill>
                  <a:srgbClr val="F8FAFC"/>
                </a:solidFill>
              </a:rPr>
              <a:t>    Soporte: 1,23% | Confianza: 60,03% (6 de cada 10 temas de R&amp;B con tracción son populares) | Lift: 3,33</a:t>
            </a:r>
          </a:p>
          <a:p>
            <a:pPr>
              <a:spcBef>
                <a:spcPts val="1400"/>
              </a:spcBef>
            </a:pPr>
            <a:r>
              <a:rPr sz="1200" b="1">
                <a:solidFill>
                  <a:srgbClr val="38BDF8"/>
                </a:solidFill>
              </a:rPr>
              <a:t>💡 Impacto Estratégico para el Negocio:
</a:t>
            </a:r>
            <a:r>
              <a:rPr sz="1100" b="0">
                <a:solidFill>
                  <a:srgbClr val="94A3B8"/>
                </a:solidFill>
              </a:rPr>
              <a:t>Un valor de Lift &gt; 3,3 demuestra que la combinación Pop/R&amp;B + tracción inicial triplica la probabilidad de éxito comercial en streaming frente a cualquier otro género del catálogo musical.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 4 (CLUSTERING)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 4B: Segmentación de Catálogo con K-Means (K = 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odo_codo_silu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91640"/>
            <a:ext cx="5669280" cy="21804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371600"/>
            <a:ext cx="4572000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55448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B954"/>
                </a:solidFill>
              </a:rPr>
              <a:t>Los 4 Arquetipos Sonoros Identificados: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Cluster 0: Acústico, Instrumental &amp; Chill: </a:t>
            </a:r>
            <a:r>
              <a:rPr sz="950" b="0">
                <a:solidFill>
                  <a:srgbClr val="94A3B8"/>
                </a:solidFill>
              </a:rPr>
              <a:t>Baja energía, alta instrumentalidad. Ideal para listas de estudio, lectura y concentración.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Cluster 1: Pop Comercial &amp; Radio FM: </a:t>
            </a:r>
            <a:r>
              <a:rPr sz="950" b="0">
                <a:solidFill>
                  <a:srgbClr val="94A3B8"/>
                </a:solidFill>
              </a:rPr>
              <a:t>Bailabilidad y energía optimizadas. Gran rotación radial, playlists de gran alcance y streaming viral.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Cluster 2: Rock, Electrónica &amp; Alta Potencia: </a:t>
            </a:r>
            <a:r>
              <a:rPr sz="950" b="0">
                <a:solidFill>
                  <a:srgbClr val="94A3B8"/>
                </a:solidFill>
              </a:rPr>
              <a:t>Máxima energía, BPM elevado y alto loudness. Entrenamientos, playlists 'workout' y festivales.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Cluster 3: Urbano, Trap &amp; Modern Hits: </a:t>
            </a:r>
            <a:r>
              <a:rPr sz="950" b="0">
                <a:solidFill>
                  <a:srgbClr val="94A3B8"/>
                </a:solidFill>
              </a:rPr>
              <a:t>Ritmos sincopados y letra explícita predominante. Fuerte penetración en audiencias Gen 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 4 (CLASIFICACIÓN)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 4C: Clasificación de Hits con Árbol de Decisión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bol_decision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8760"/>
            <a:ext cx="1033272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DB954"/>
                </a:solidFill>
              </a:rPr>
              <a:t>Control Riguroso de Sobreajuste (Overfitting): </a:t>
            </a:r>
            <a:r>
              <a:rPr sz="1050" b="0">
                <a:solidFill>
                  <a:srgbClr val="F8FAFC"/>
                </a:solidFill>
              </a:rPr>
              <a:t>Se evaluaron profundidades de 2 a 15. Para max_depth ≥ 8 existía sobreajuste severo (Train 84% vs Test &lt; 52%). Se fijó max_depth = 3 con criterio Gini para garantizar 8 nodos hoja interpretables y alta capacidad de generalización.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 5 (EVALUACIÓN)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 5: Evaluación de Desempeño y Matriz de Confusión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4206240" cy="32355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60720" y="1371600"/>
            <a:ext cx="5669280" cy="493776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26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B954"/>
                </a:solidFill>
              </a:rPr>
              <a:t>Resultados sobre 17.000 Canciones de Prueba: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Exactitud Global (Accuracy): </a:t>
            </a:r>
            <a:r>
              <a:rPr sz="1000" b="0">
                <a:solidFill>
                  <a:srgbClr val="94A3B8"/>
                </a:solidFill>
              </a:rPr>
              <a:t>57,95% sobre el conjunto independiente de validación.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Alta Precisión en Clase Estándar: </a:t>
            </a:r>
            <a:r>
              <a:rPr sz="1000" b="0">
                <a:solidFill>
                  <a:srgbClr val="94A3B8"/>
                </a:solidFill>
              </a:rPr>
              <a:t>74% de precisión (8.253 Verdaderos Negativos), permitiendo descartar maquetas con bajo potencial con alta fiabilidad.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Detección de Hits Comerciales: </a:t>
            </a:r>
            <a:r>
              <a:rPr sz="1000" b="0">
                <a:solidFill>
                  <a:srgbClr val="94A3B8"/>
                </a:solidFill>
              </a:rPr>
              <a:t>1.598 Verdaderos Positivos detectados exclusivamente por acústica.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¿Por qué existe un límite predictivo?: </a:t>
            </a:r>
            <a:r>
              <a:rPr sz="1000" b="0">
                <a:solidFill>
                  <a:srgbClr val="94A3B8"/>
                </a:solidFill>
              </a:rPr>
              <a:t>El éxito musical es multifactorial: la inversión de marketing, la viralización en TikTok y la fama del artista determinan gran parte de la tracción final.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F8FAFC"/>
                </a:solidFill>
              </a:rPr>
              <a:t>• Valor Práctico para la Industria: </a:t>
            </a:r>
            <a:r>
              <a:rPr sz="1000" b="0">
                <a:solidFill>
                  <a:srgbClr val="94A3B8"/>
                </a:solidFill>
              </a:rPr>
              <a:t>El modelo funciona como un filtro inteligente de precalificación (screening) para priorizar presupuestos de A&amp;R.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DB954"/>
                </a:solidFill>
              </a:rPr>
              <a:t>CRISP-DM — FASES 6 &amp;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</a:rPr>
              <a:t>Fases 6 y 7: Conclusiones Estratégicas y Despliegue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B954"/>
                </a:solidFill>
              </a:rPr>
              <a:t>🎯 Recomendaciones de Negocio
</a:t>
            </a:r>
          </a:p>
          <a:p>
            <a:r>
              <a:rPr sz="1100" b="1">
                <a:solidFill>
                  <a:srgbClr val="F8FAFC"/>
                </a:solidFill>
              </a:rPr>
              <a:t>Acciones por Clúster
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Clúster 1 (Pop): Concentrar inversión de pauta publicitaria en temas con bailabilidad &gt; 0,65 y energía &gt; 0,60.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Clúster 0 (Acústico): No gastar en radio; colocar en playlists funcionales de estudio y concentración (mayor retención).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Clúster 3 (Urbano): Pauta digital vertical móvil (TikTok/Reels) para audiencias de 16 a 24 años.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212080" cy="4754880"/>
          </a:xfrm>
          <a:prstGeom prst="roundRect">
            <a:avLst/>
          </a:prstGeom>
          <a:solidFill>
            <a:srgbClr val="181F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8BDF8"/>
                </a:solidFill>
              </a:rPr>
              <a:t>🚀 Despliegue y Entrega Completa
</a:t>
            </a:r>
          </a:p>
          <a:p>
            <a:r>
              <a:rPr sz="1100" b="1">
                <a:solidFill>
                  <a:srgbClr val="F8FAFC"/>
                </a:solidFill>
              </a:rPr>
              <a:t>Producto Funcional
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Aplicación web interactiva en FastAPI y Bootstrap 5 Dark.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Persistencia relacional con SQLite y suite de 17 pruebas unitarias.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Repositorio sincronizado en GitHub con historial de trabajo colaborativo.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94A3B8"/>
                </a:solidFill>
              </a:rPr>
              <a:t>• Informe técnico completo de 5 a 8 páginas y diapositivas de defensa.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